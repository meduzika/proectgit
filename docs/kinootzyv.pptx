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87F"/>
    <a:srgbClr val="FEBEB4"/>
    <a:srgbClr val="FD9B8B"/>
    <a:srgbClr val="348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229214-AA16-3E3A-93D7-EC2726BE3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57103-5EFD-C8EF-3D29-8D42CC77F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3556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rgbClr val="23587F"/>
                </a:solidFill>
                <a:latin typeface="+mn-lt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E46BA3-E231-D7EE-A368-679CA7478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5521"/>
            <a:ext cx="9144000" cy="11731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FD9B8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C0F775-FF7F-14E4-2FEB-49896EE0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5890C9-88B6-2F62-7852-98AC631B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0FF832-2FB0-3A84-39F7-E00789CD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4975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B5D2D-3A39-ED68-0763-333DB374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400B7-4E93-420A-D1D9-263B29267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A00953-4C29-1679-6EAA-2FA95F1F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408DA7-98C3-BACE-3551-09B36A12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4B0ABB-9339-A695-6F7A-D24DCD26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1531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F55F4-0DCD-EAD8-2774-03DA674A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A69FAF-9444-BB73-FA54-D6CC6E1F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FB8838-FE93-F6D4-2359-6F2BE169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06B821-9CB5-AA5F-8CBB-6AB4546F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2A14C6-9A8A-4D72-5F4F-B9AE3C6F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97628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3C115-7E46-8142-AE6B-6DF0DC18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E08A4-CCB0-E7A9-386B-8ED757591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DFB879-870A-E00F-E593-A86C9AAA5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13A7BD-0211-81F6-B155-4B62B2B9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94190D-F2BD-1BC0-C312-FBADD1E7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C2CAC7-49E4-4753-A48D-EF18700B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6876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B6D1B-DF89-C765-87D9-C407A9BE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DD71CF-E0DA-E566-A27C-480ED678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8A6AE9-A152-7BC1-21A5-8BCA510C6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F926DE-6187-03F2-B1F4-D9774CDA4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48A083-AEA8-D51D-4F68-427FE1AB0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44BEDC-D004-05A3-9DCC-970A8333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565BF9-7B36-8B7A-563A-05E103BF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BF449F-8BAC-F15F-AC9B-768E4F28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6719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46B61-2840-D433-2EE5-1F5D6218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DB2501-4060-BBFA-498A-FE07F73E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FDEA5F-387C-D591-EFB7-6338EFE2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BA196A-79F5-5A10-A89E-9C21C106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8939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6A8054-CEA9-7432-9509-AD772BCA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809CC0-D761-D062-54DD-2E40EE28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BC007F-8CC0-4596-0E9A-386FF396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4959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6C5E1-8C02-8CE1-022E-928A908C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B930E-AF6F-3F39-0D45-A8802C70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8EA5CF-D3D7-F9FE-A236-1C12EBA11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11D279-A6F3-FFAB-0344-B31781CF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8C69B0-5118-9AD7-7E31-04A9771E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2CF7D6-4709-9A08-24ED-A90062FE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9309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C3DC9-4B57-450D-1474-3C6ECFF8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9B302D-7C9F-59F9-AD4A-A1B95ED66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1A0E8A-3625-BD96-B613-AF202E933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1CAB47-AAFB-2D14-CD4E-C7B6AC80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E98BD9-3D0E-405F-914C-30807D73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617B96-C861-559A-3458-120C2C28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2060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CAEA6-10FC-567E-D31B-F425CB61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3A78DE-2FA8-261B-E2DB-6EDD9F7FD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2CB293-85D2-D9DE-B2CF-5B45D54B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0E8526-B96A-F2AB-5026-B306AE86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8C758-DA23-68EE-564C-97FE3B00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0377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03AE35-B0E3-32DD-BDC1-4C6715574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F3C78B-E505-A087-2D45-2F6125C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87DE2F-8125-8244-9585-B03B99C5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9D2E2-DEAF-3E0E-5393-2F9520ED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7FE205-518B-658E-C403-8899E66E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4005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99112C-C6E7-9186-04C9-F512848032C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043"/>
            <a:ext cx="12191999" cy="684795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EEA81-3A8A-7928-69A5-FBFFC6C9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6965F-986D-FFAD-B3C2-5F6D001E5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F57C58-8CF4-A6B2-8056-6A73F9A3B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442F0-C2A4-41C2-9748-E4CED8053783}" type="datetimeFigureOut">
              <a:rPr lang="ru-UA" smtClean="0"/>
              <a:t>02/25/2026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4FAB48-4A1E-C74B-E41B-ECBD68FD9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58883-2624-9C38-B1C2-EDF01D31B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77036-B60F-4FF5-BAC8-8B218484278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07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3587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duzika/proect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duzika/proect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57445-2D3A-C566-CECC-2A1A2EEC8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668" y="3325037"/>
            <a:ext cx="11698664" cy="1173162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alibri" panose="020F0502020204030204" pitchFamily="34" charset="0"/>
                <a:cs typeface="Calibri" panose="020F0502020204030204" pitchFamily="34" charset="0"/>
              </a:rPr>
              <a:t>«Модуль 1: Проектирование архитектуры системы»  </a:t>
            </a:r>
            <a:br>
              <a:rPr lang="ru-RU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4400" dirty="0">
                <a:latin typeface="Calibri" panose="020F0502020204030204" pitchFamily="34" charset="0"/>
                <a:cs typeface="Calibri" panose="020F0502020204030204" pitchFamily="34" charset="0"/>
              </a:rPr>
              <a:t>Тема: </a:t>
            </a:r>
            <a:r>
              <a:rPr lang="ru-RU" sz="4400" dirty="0" err="1">
                <a:latin typeface="Calibri" panose="020F0502020204030204" pitchFamily="34" charset="0"/>
                <a:cs typeface="Calibri" panose="020F0502020204030204" pitchFamily="34" charset="0"/>
              </a:rPr>
              <a:t>КиноОтзыв</a:t>
            </a:r>
            <a:r>
              <a:rPr lang="ru-RU" sz="4400" dirty="0">
                <a:latin typeface="Calibri" panose="020F0502020204030204" pitchFamily="34" charset="0"/>
                <a:cs typeface="Calibri" panose="020F0502020204030204" pitchFamily="34" charset="0"/>
              </a:rPr>
              <a:t> — сервис рецензий на фильмы  </a:t>
            </a:r>
            <a:endParaRPr lang="ru-UA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B50DE7-9E22-C555-1B52-948110381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399" y="4498199"/>
            <a:ext cx="9144000" cy="11731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/>
              <a:t>Группа: ПИб-241  </a:t>
            </a:r>
          </a:p>
          <a:p>
            <a:pPr algn="l"/>
            <a:r>
              <a:rPr lang="ru-RU" dirty="0"/>
              <a:t>Состав: Синицына Д.В, </a:t>
            </a:r>
          </a:p>
          <a:p>
            <a:pPr algn="l"/>
            <a:r>
              <a:rPr lang="ru-RU" dirty="0"/>
              <a:t>Колесникова В.А, Стрелковская К.А</a:t>
            </a:r>
          </a:p>
          <a:p>
            <a:pPr algn="l"/>
            <a:r>
              <a:rPr lang="ru-RU" dirty="0"/>
              <a:t>Репозиторий: </a:t>
            </a:r>
            <a:r>
              <a:rPr lang="en-US" b="0" i="0" u="sng" dirty="0">
                <a:solidFill>
                  <a:srgbClr val="8774E1"/>
                </a:solidFill>
                <a:effectLst/>
                <a:latin typeface="Roboto" panose="02000000000000000000" pitchFamily="2" charset="0"/>
                <a:hlinkClick r:id="rId2"/>
              </a:rPr>
              <a:t>https://github.com/Meduzika/proectGit</a:t>
            </a:r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3D976-340D-4F15-9953-306627F58110}"/>
              </a:ext>
            </a:extLst>
          </p:cNvPr>
          <p:cNvSpPr txBox="1"/>
          <p:nvPr/>
        </p:nvSpPr>
        <p:spPr>
          <a:xfrm>
            <a:off x="4376394" y="6532775"/>
            <a:ext cx="130796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D9B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Февраль 2026</a:t>
            </a:r>
            <a:endParaRPr kumimoji="0" lang="ru-UA" sz="1400" b="1" i="0" u="none" strike="noStrike" kern="1200" cap="none" spc="0" normalizeH="0" baseline="0" noProof="0" dirty="0">
              <a:ln>
                <a:noFill/>
              </a:ln>
              <a:solidFill>
                <a:srgbClr val="FD9B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6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35" y="242182"/>
            <a:ext cx="10515600" cy="4938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Описание проекта</a:t>
            </a:r>
            <a:endParaRPr lang="en-UA" b="1" dirty="0"/>
          </a:p>
        </p:txBody>
      </p:sp>
      <p:sp>
        <p:nvSpPr>
          <p:cNvPr id="46" name="TextBox 50">
            <a:extLst>
              <a:ext uri="{FF2B5EF4-FFF2-40B4-BE49-F238E27FC236}">
                <a16:creationId xmlns:a16="http://schemas.microsoft.com/office/drawing/2014/main" id="{21FF1077-D325-3143-9932-3FC53AE9DC34}"/>
              </a:ext>
            </a:extLst>
          </p:cNvPr>
          <p:cNvSpPr txBox="1">
            <a:spLocks/>
          </p:cNvSpPr>
          <p:nvPr/>
        </p:nvSpPr>
        <p:spPr>
          <a:xfrm>
            <a:off x="1064335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0FBB9F-4866-443C-9F6E-F6B79CE2370E}"/>
              </a:ext>
            </a:extLst>
          </p:cNvPr>
          <p:cNvSpPr txBox="1"/>
          <p:nvPr/>
        </p:nvSpPr>
        <p:spPr>
          <a:xfrm>
            <a:off x="169683" y="797510"/>
            <a:ext cx="121260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3587F"/>
                </a:solidFill>
              </a:rPr>
              <a:t>Проблема: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  	Пользователи сталкиваются с избытком контента и ненадёжными рейтингами. Нет платформы, где зрители делятся честными рецензиями без рекламного влияния.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3587F"/>
                </a:solidFill>
              </a:rPr>
              <a:t>Цель: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  	Создать простой, прозрачный сервис для публикации и чтения отзывов на фильмы с возможностью указания ролей актёров.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3587F"/>
                </a:solidFill>
              </a:rPr>
              <a:t>Решение: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 «</a:t>
            </a:r>
            <a:r>
              <a:rPr lang="ru-RU" sz="2800" dirty="0" err="1">
                <a:solidFill>
                  <a:srgbClr val="23587F"/>
                </a:solidFill>
              </a:rPr>
              <a:t>КиноОтзыв</a:t>
            </a:r>
            <a:r>
              <a:rPr lang="ru-RU" sz="2800" dirty="0">
                <a:solidFill>
                  <a:srgbClr val="23587F"/>
                </a:solidFill>
              </a:rPr>
              <a:t>» — веб-платформа, где:  </a:t>
            </a:r>
          </a:p>
          <a:p>
            <a:pPr lvl="2"/>
            <a:r>
              <a:rPr lang="ru-RU" sz="2800" dirty="0">
                <a:solidFill>
                  <a:srgbClr val="23587F"/>
                </a:solidFill>
              </a:rPr>
              <a:t> Зрители оставляют отзывы с оценкой (1–10);  </a:t>
            </a:r>
          </a:p>
          <a:p>
            <a:pPr lvl="2"/>
            <a:r>
              <a:rPr lang="ru-RU" sz="2800" dirty="0">
                <a:solidFill>
                  <a:srgbClr val="23587F"/>
                </a:solidFill>
              </a:rPr>
              <a:t> Администратор управляет каталогом фильмов и модерирует контент;  </a:t>
            </a:r>
          </a:p>
          <a:p>
            <a:pPr lvl="2"/>
            <a:r>
              <a:rPr lang="ru-RU" sz="2800" dirty="0">
                <a:solidFill>
                  <a:srgbClr val="23587F"/>
                </a:solidFill>
              </a:rPr>
              <a:t> В модели — актёры и их роли в фильмах</a:t>
            </a:r>
            <a:r>
              <a:rPr lang="en-US" sz="2800" dirty="0">
                <a:solidFill>
                  <a:srgbClr val="23587F"/>
                </a:solidFill>
              </a:rPr>
              <a:t>;</a:t>
            </a:r>
            <a:endParaRPr lang="ru-RU" sz="2800" dirty="0">
              <a:solidFill>
                <a:srgbClr val="2358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0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Пользователи и основные возможности </a:t>
            </a:r>
            <a:endParaRPr lang="en-UA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871F47-5F5C-45CE-81B3-12A5014C873F}"/>
              </a:ext>
            </a:extLst>
          </p:cNvPr>
          <p:cNvSpPr txBox="1"/>
          <p:nvPr/>
        </p:nvSpPr>
        <p:spPr>
          <a:xfrm>
            <a:off x="391999" y="1012954"/>
            <a:ext cx="118000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solidFill>
                  <a:srgbClr val="23587F"/>
                </a:solidFill>
              </a:rPr>
              <a:t>Неавторизованный пользователь </a:t>
            </a:r>
            <a:r>
              <a:rPr lang="ru-RU" sz="2800" dirty="0">
                <a:solidFill>
                  <a:srgbClr val="23587F"/>
                </a:solidFill>
              </a:rPr>
              <a:t>- просмотр каталога фильмов, страницы фильма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solidFill>
                  <a:srgbClr val="23587F"/>
                </a:solidFill>
              </a:rPr>
              <a:t>Авторизованный пользователь </a:t>
            </a:r>
            <a:r>
              <a:rPr lang="ru-RU" sz="2800" dirty="0">
                <a:solidFill>
                  <a:srgbClr val="23587F"/>
                </a:solidFill>
              </a:rPr>
              <a:t>- регистрация, вход, оставление отзывов, просмотр своих отзывов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solidFill>
                  <a:srgbClr val="23587F"/>
                </a:solidFill>
              </a:rPr>
              <a:t>Администратор</a:t>
            </a:r>
            <a:r>
              <a:rPr lang="ru-RU" sz="2800" dirty="0">
                <a:solidFill>
                  <a:srgbClr val="23587F"/>
                </a:solidFill>
              </a:rPr>
              <a:t> - управление фильмами (CRUD), модерация отзывов, формирование отчётов (ТОП-10, активность), выгрузка в Excel/Word </a:t>
            </a:r>
          </a:p>
          <a:p>
            <a:endParaRPr lang="ru-RU" sz="2800" dirty="0">
              <a:solidFill>
                <a:srgbClr val="23587F"/>
              </a:solidFill>
            </a:endParaRPr>
          </a:p>
          <a:p>
            <a:r>
              <a:rPr lang="ru-RU" sz="2800" dirty="0">
                <a:solidFill>
                  <a:srgbClr val="23587F"/>
                </a:solidFill>
              </a:rPr>
              <a:t>Все функции разделены по модулям: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- MVP (КТ 2): просмотр фильмов + CRUD фильмов (админ)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- Расширенный продукт (КТ 3): авторизация, отзывы, отчёты  </a:t>
            </a:r>
          </a:p>
          <a:p>
            <a:r>
              <a:rPr lang="ru-RU" sz="2800" dirty="0">
                <a:solidFill>
                  <a:srgbClr val="23587F"/>
                </a:solidFill>
              </a:rPr>
              <a:t>- Интеграция (КТ 4): </a:t>
            </a:r>
            <a:r>
              <a:rPr lang="ru-RU" sz="2800" dirty="0" err="1">
                <a:solidFill>
                  <a:srgbClr val="23587F"/>
                </a:solidFill>
              </a:rPr>
              <a:t>Docker</a:t>
            </a:r>
            <a:r>
              <a:rPr lang="ru-RU" sz="2800" dirty="0">
                <a:solidFill>
                  <a:srgbClr val="23587F"/>
                </a:solidFill>
              </a:rPr>
              <a:t>, автоматическая инициализация 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ADBDC4-7837-444A-9701-F584B8CB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593" y="4298132"/>
            <a:ext cx="2023407" cy="14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4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0C83CC-88EE-4A09-B752-FA870A8A46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8862" y="0"/>
            <a:ext cx="8397809" cy="581145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matte"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0" y="182811"/>
            <a:ext cx="4892040" cy="4938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Диаграмма </a:t>
            </a:r>
            <a:r>
              <a:rPr lang="en-US" b="1" dirty="0"/>
              <a:t>Use-Case</a:t>
            </a:r>
            <a:endParaRPr lang="en-UA" b="1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8ECD193-A87C-4D81-8E1E-CDAF044CC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953" y="4342188"/>
            <a:ext cx="2024047" cy="14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21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74FF30-FD7D-475F-A006-18C3D53D8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3" r="5087" b="6570"/>
          <a:stretch/>
        </p:blipFill>
        <p:spPr>
          <a:xfrm>
            <a:off x="2793684" y="75614"/>
            <a:ext cx="6934981" cy="6102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920" y="186289"/>
            <a:ext cx="3302397" cy="4938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Схема БД</a:t>
            </a:r>
            <a:endParaRPr lang="en-UA" b="1" dirty="0"/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1267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3743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19129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485086-1499-48E1-AE24-3BF06DE48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83619"/>
            <a:ext cx="2024047" cy="146926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40B473C-1D07-462F-B9B3-5FD0782C399C}"/>
              </a:ext>
            </a:extLst>
          </p:cNvPr>
          <p:cNvSpPr txBox="1"/>
          <p:nvPr/>
        </p:nvSpPr>
        <p:spPr>
          <a:xfrm>
            <a:off x="9685667" y="1105798"/>
            <a:ext cx="247985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23587F"/>
                </a:solidFill>
              </a:rPr>
              <a:t>Связи:</a:t>
            </a:r>
          </a:p>
          <a:p>
            <a:r>
              <a:rPr lang="en-US" dirty="0">
                <a:solidFill>
                  <a:srgbClr val="23587F"/>
                </a:solidFill>
              </a:rPr>
              <a:t>users → reviews (1:N)  </a:t>
            </a:r>
          </a:p>
          <a:p>
            <a:r>
              <a:rPr lang="en-US" dirty="0">
                <a:solidFill>
                  <a:srgbClr val="23587F"/>
                </a:solidFill>
              </a:rPr>
              <a:t>movies → reviews (1:N)  </a:t>
            </a:r>
          </a:p>
          <a:p>
            <a:r>
              <a:rPr lang="en-US" dirty="0">
                <a:solidFill>
                  <a:srgbClr val="23587F"/>
                </a:solidFill>
              </a:rPr>
              <a:t>movies ↔ actors </a:t>
            </a:r>
            <a:r>
              <a:rPr lang="ru-RU" dirty="0">
                <a:solidFill>
                  <a:srgbClr val="23587F"/>
                </a:solidFill>
              </a:rPr>
              <a:t>через </a:t>
            </a:r>
            <a:r>
              <a:rPr lang="en-US" dirty="0" err="1">
                <a:solidFill>
                  <a:srgbClr val="23587F"/>
                </a:solidFill>
              </a:rPr>
              <a:t>movie_actor</a:t>
            </a:r>
            <a:r>
              <a:rPr lang="en-US" dirty="0">
                <a:solidFill>
                  <a:srgbClr val="23587F"/>
                </a:solidFill>
              </a:rPr>
              <a:t> (N:M)</a:t>
            </a:r>
          </a:p>
          <a:p>
            <a:endParaRPr lang="en-US" dirty="0">
              <a:solidFill>
                <a:srgbClr val="23587F"/>
              </a:solidFill>
            </a:endParaRPr>
          </a:p>
          <a:p>
            <a:r>
              <a:rPr lang="ru-RU" dirty="0">
                <a:solidFill>
                  <a:srgbClr val="23587F"/>
                </a:solidFill>
              </a:rPr>
              <a:t>Указана нормализация: 3НФ, внешние ключи, составной </a:t>
            </a:r>
            <a:r>
              <a:rPr lang="en-US" dirty="0">
                <a:solidFill>
                  <a:srgbClr val="23587F"/>
                </a:solidFill>
              </a:rPr>
              <a:t>PK </a:t>
            </a:r>
            <a:r>
              <a:rPr lang="ru-RU" dirty="0">
                <a:solidFill>
                  <a:srgbClr val="23587F"/>
                </a:solidFill>
              </a:rPr>
              <a:t>в </a:t>
            </a:r>
            <a:r>
              <a:rPr lang="en-US" dirty="0" err="1">
                <a:solidFill>
                  <a:srgbClr val="23587F"/>
                </a:solidFill>
              </a:rPr>
              <a:t>movie_actor</a:t>
            </a:r>
            <a:r>
              <a:rPr lang="en-US" dirty="0">
                <a:solidFill>
                  <a:srgbClr val="23587F"/>
                </a:solidFill>
              </a:rPr>
              <a:t>.</a:t>
            </a:r>
            <a:endParaRPr lang="ru-RU" dirty="0">
              <a:solidFill>
                <a:srgbClr val="23587F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5893FD-69D8-4A75-A9F7-24E31F172088}"/>
              </a:ext>
            </a:extLst>
          </p:cNvPr>
          <p:cNvSpPr txBox="1"/>
          <p:nvPr/>
        </p:nvSpPr>
        <p:spPr>
          <a:xfrm>
            <a:off x="0" y="967299"/>
            <a:ext cx="2851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23587F"/>
                </a:solidFill>
              </a:rPr>
              <a:t>Таблицы:</a:t>
            </a:r>
          </a:p>
          <a:p>
            <a:r>
              <a:rPr lang="en-US" b="1" dirty="0">
                <a:solidFill>
                  <a:srgbClr val="23587F"/>
                </a:solidFill>
              </a:rPr>
              <a:t>users </a:t>
            </a:r>
            <a:r>
              <a:rPr lang="en-US" dirty="0">
                <a:solidFill>
                  <a:srgbClr val="23587F"/>
                </a:solidFill>
              </a:rPr>
              <a:t>— id, login, password, role  </a:t>
            </a:r>
          </a:p>
          <a:p>
            <a:r>
              <a:rPr lang="en-US" b="1" dirty="0">
                <a:solidFill>
                  <a:srgbClr val="23587F"/>
                </a:solidFill>
              </a:rPr>
              <a:t>movies</a:t>
            </a:r>
            <a:r>
              <a:rPr lang="en-US" dirty="0">
                <a:solidFill>
                  <a:srgbClr val="23587F"/>
                </a:solidFill>
              </a:rPr>
              <a:t> — id, title, year, director, description  </a:t>
            </a:r>
          </a:p>
          <a:p>
            <a:r>
              <a:rPr lang="en-US" b="1" dirty="0">
                <a:solidFill>
                  <a:srgbClr val="23587F"/>
                </a:solidFill>
              </a:rPr>
              <a:t>actors</a:t>
            </a:r>
            <a:r>
              <a:rPr lang="en-US" dirty="0">
                <a:solidFill>
                  <a:srgbClr val="23587F"/>
                </a:solidFill>
              </a:rPr>
              <a:t> — id, name, </a:t>
            </a:r>
            <a:r>
              <a:rPr lang="en-US" dirty="0" err="1">
                <a:solidFill>
                  <a:srgbClr val="23587F"/>
                </a:solidFill>
              </a:rPr>
              <a:t>birth_date</a:t>
            </a:r>
            <a:r>
              <a:rPr lang="en-US" dirty="0">
                <a:solidFill>
                  <a:srgbClr val="23587F"/>
                </a:solidFill>
              </a:rPr>
              <a:t>  </a:t>
            </a:r>
          </a:p>
          <a:p>
            <a:r>
              <a:rPr lang="en-US" b="1" dirty="0">
                <a:solidFill>
                  <a:srgbClr val="23587F"/>
                </a:solidFill>
              </a:rPr>
              <a:t>reviews</a:t>
            </a:r>
            <a:r>
              <a:rPr lang="en-US" dirty="0">
                <a:solidFill>
                  <a:srgbClr val="23587F"/>
                </a:solidFill>
              </a:rPr>
              <a:t> — id, text, rating, </a:t>
            </a:r>
            <a:r>
              <a:rPr lang="en-US" dirty="0" err="1">
                <a:solidFill>
                  <a:srgbClr val="23587F"/>
                </a:solidFill>
              </a:rPr>
              <a:t>created_at</a:t>
            </a:r>
            <a:r>
              <a:rPr lang="en-US" dirty="0">
                <a:solidFill>
                  <a:srgbClr val="23587F"/>
                </a:solidFill>
              </a:rPr>
              <a:t>, </a:t>
            </a:r>
            <a:r>
              <a:rPr lang="en-US" dirty="0" err="1">
                <a:solidFill>
                  <a:srgbClr val="23587F"/>
                </a:solidFill>
              </a:rPr>
              <a:t>user_id</a:t>
            </a:r>
            <a:r>
              <a:rPr lang="en-US" dirty="0">
                <a:solidFill>
                  <a:srgbClr val="23587F"/>
                </a:solidFill>
              </a:rPr>
              <a:t>, </a:t>
            </a:r>
            <a:r>
              <a:rPr lang="en-US" dirty="0" err="1">
                <a:solidFill>
                  <a:srgbClr val="23587F"/>
                </a:solidFill>
              </a:rPr>
              <a:t>movie_id</a:t>
            </a:r>
            <a:r>
              <a:rPr lang="en-US" dirty="0">
                <a:solidFill>
                  <a:srgbClr val="23587F"/>
                </a:solidFill>
              </a:rPr>
              <a:t>  </a:t>
            </a:r>
          </a:p>
          <a:p>
            <a:r>
              <a:rPr lang="en-US" dirty="0" err="1">
                <a:solidFill>
                  <a:srgbClr val="23587F"/>
                </a:solidFill>
              </a:rPr>
              <a:t>movie_actor</a:t>
            </a:r>
            <a:r>
              <a:rPr lang="en-US" dirty="0">
                <a:solidFill>
                  <a:srgbClr val="23587F"/>
                </a:solidFill>
              </a:rPr>
              <a:t> — </a:t>
            </a:r>
            <a:r>
              <a:rPr lang="en-US" dirty="0" err="1">
                <a:solidFill>
                  <a:srgbClr val="23587F"/>
                </a:solidFill>
              </a:rPr>
              <a:t>movie_id</a:t>
            </a:r>
            <a:r>
              <a:rPr lang="en-US" dirty="0">
                <a:solidFill>
                  <a:srgbClr val="23587F"/>
                </a:solidFill>
              </a:rPr>
              <a:t>, </a:t>
            </a:r>
            <a:r>
              <a:rPr lang="en-US" dirty="0" err="1">
                <a:solidFill>
                  <a:srgbClr val="23587F"/>
                </a:solidFill>
              </a:rPr>
              <a:t>actor_id</a:t>
            </a:r>
            <a:r>
              <a:rPr lang="en-US" dirty="0">
                <a:solidFill>
                  <a:srgbClr val="23587F"/>
                </a:solidFill>
              </a:rPr>
              <a:t>, </a:t>
            </a:r>
            <a:r>
              <a:rPr lang="en-US" dirty="0" err="1">
                <a:solidFill>
                  <a:srgbClr val="23587F"/>
                </a:solidFill>
              </a:rPr>
              <a:t>role_in_movie</a:t>
            </a:r>
            <a:endParaRPr lang="en-US" dirty="0">
              <a:solidFill>
                <a:srgbClr val="2358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76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 animBg="1"/>
          <p:bldP spid="49" grpId="0" animBg="1"/>
          <p:bldP spid="5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17" y="145999"/>
            <a:ext cx="10515600" cy="4938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Список </a:t>
            </a:r>
            <a:r>
              <a:rPr lang="en-US" b="1" dirty="0"/>
              <a:t>endpoint-</a:t>
            </a:r>
            <a:r>
              <a:rPr lang="ru-RU" b="1" dirty="0" err="1"/>
              <a:t>ов</a:t>
            </a:r>
            <a:endParaRPr lang="en-UA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B8D839-BCF2-48EF-8F39-D4758027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6"/>
          <a:stretch/>
        </p:blipFill>
        <p:spPr>
          <a:xfrm>
            <a:off x="136434" y="952107"/>
            <a:ext cx="11919132" cy="461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1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2DE77-AE95-4E8B-B1AD-EA6B8EAD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Список веб-страниц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38B6B6B-AC7D-48FC-BD04-4081ACE23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57762"/>
              </p:ext>
            </p:extLst>
          </p:nvPr>
        </p:nvGraphicFramePr>
        <p:xfrm>
          <a:off x="298515" y="858982"/>
          <a:ext cx="11594969" cy="4825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77">
                  <a:extLst>
                    <a:ext uri="{9D8B030D-6E8A-4147-A177-3AD203B41FA5}">
                      <a16:colId xmlns:a16="http://schemas.microsoft.com/office/drawing/2014/main" val="1067662517"/>
                    </a:ext>
                  </a:extLst>
                </a:gridCol>
                <a:gridCol w="2745573">
                  <a:extLst>
                    <a:ext uri="{9D8B030D-6E8A-4147-A177-3AD203B41FA5}">
                      <a16:colId xmlns:a16="http://schemas.microsoft.com/office/drawing/2014/main" val="3556296763"/>
                    </a:ext>
                  </a:extLst>
                </a:gridCol>
                <a:gridCol w="2745573">
                  <a:extLst>
                    <a:ext uri="{9D8B030D-6E8A-4147-A177-3AD203B41FA5}">
                      <a16:colId xmlns:a16="http://schemas.microsoft.com/office/drawing/2014/main" val="1369365627"/>
                    </a:ext>
                  </a:extLst>
                </a:gridCol>
                <a:gridCol w="2745573">
                  <a:extLst>
                    <a:ext uri="{9D8B030D-6E8A-4147-A177-3AD203B41FA5}">
                      <a16:colId xmlns:a16="http://schemas.microsoft.com/office/drawing/2014/main" val="1965862742"/>
                    </a:ext>
                  </a:extLst>
                </a:gridCol>
                <a:gridCol w="2745573">
                  <a:extLst>
                    <a:ext uri="{9D8B030D-6E8A-4147-A177-3AD203B41FA5}">
                      <a16:colId xmlns:a16="http://schemas.microsoft.com/office/drawing/2014/main" val="838076749"/>
                    </a:ext>
                  </a:extLst>
                </a:gridCol>
              </a:tblGrid>
              <a:tr h="4342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Страница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Входные </a:t>
                      </a:r>
                      <a:r>
                        <a:rPr lang="en-US" sz="2000" b="1" dirty="0"/>
                        <a:t>end-point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Выходные </a:t>
                      </a:r>
                      <a:r>
                        <a:rPr lang="en-US" sz="2000" b="1" dirty="0"/>
                        <a:t>end-point</a:t>
                      </a:r>
                      <a:endParaRPr lang="ru-R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040178"/>
                  </a:ext>
                </a:extLst>
              </a:tr>
              <a:tr h="7494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Главная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Приветствие, навигация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movies, /login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055376"/>
                  </a:ext>
                </a:extLst>
              </a:tr>
              <a:tr h="4342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Каталог фильмов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Список всех фильмов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movies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 err="1">
                          <a:solidFill>
                            <a:srgbClr val="23587F"/>
                          </a:solidFill>
                        </a:rPr>
                        <a:t>movie?id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8448"/>
                  </a:ext>
                </a:extLst>
              </a:tr>
              <a:tr h="7494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Страница фильма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Детали + актёры + отзывы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 err="1">
                          <a:solidFill>
                            <a:srgbClr val="23587F"/>
                          </a:solidFill>
                        </a:rPr>
                        <a:t>movie?id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/review/add, /admin (</a:t>
                      </a:r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если админ)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98981"/>
                  </a:ext>
                </a:extLst>
              </a:tr>
              <a:tr h="4342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Личный кабинет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Мои отзывы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profile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/review/add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624975"/>
                  </a:ext>
                </a:extLst>
              </a:tr>
              <a:tr h="4342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Форма отзыва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Текст + оценка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review/</a:t>
                      </a:r>
                      <a:r>
                        <a:rPr lang="en-US" sz="2000" dirty="0" err="1">
                          <a:solidFill>
                            <a:srgbClr val="23587F"/>
                          </a:solidFill>
                        </a:rPr>
                        <a:t>add?movie_id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POST /review/add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805720"/>
                  </a:ext>
                </a:extLst>
              </a:tr>
              <a:tr h="7494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Админ-панель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Навигация по управлению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/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admin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/admin/movies, /reports/top10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900927"/>
                  </a:ext>
                </a:extLst>
              </a:tr>
              <a:tr h="840261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Управление фильмами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23587F"/>
                          </a:solidFill>
                        </a:rPr>
                        <a:t>Таблица + </a:t>
                      </a:r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CRUD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/admin/movies 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23587F"/>
                          </a:solidFill>
                        </a:rPr>
                        <a:t>POST /admin/movie/delete</a:t>
                      </a:r>
                      <a:endParaRPr lang="ru-RU" sz="2000" dirty="0">
                        <a:solidFill>
                          <a:srgbClr val="2358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771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986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CA2674-94E7-4BBB-9C04-AF29B317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64" y="123918"/>
            <a:ext cx="9362661" cy="673408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9B48C-50FA-4580-AB86-1D21E229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" y="123918"/>
            <a:ext cx="4261702" cy="4938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Карта сайта</a:t>
            </a:r>
          </a:p>
        </p:txBody>
      </p:sp>
    </p:spTree>
    <p:extLst>
      <p:ext uri="{BB962C8B-B14F-4D97-AF65-F5344CB8AC3E}">
        <p14:creationId xmlns:p14="http://schemas.microsoft.com/office/powerpoint/2010/main" val="216568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702711-CCD8-47A7-8512-0E3A8C34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29" y="84152"/>
            <a:ext cx="9412941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B7580-C089-420A-9325-BAE5EF20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364143"/>
            <a:ext cx="5034699" cy="4938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Каркас веб-страницы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198938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239679-EF66-46A9-A31B-D1CF19D023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7" r="567"/>
          <a:stretch/>
        </p:blipFill>
        <p:spPr>
          <a:xfrm>
            <a:off x="0" y="688157"/>
            <a:ext cx="12210917" cy="526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49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78216-CF94-495C-B843-FDA3D60B2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6" t="13011" r="30799"/>
          <a:stretch/>
        </p:blipFill>
        <p:spPr>
          <a:xfrm>
            <a:off x="829560" y="0"/>
            <a:ext cx="9888718" cy="5893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B51FAA-D479-43E3-8DFE-2C9284E17C19}"/>
              </a:ext>
            </a:extLst>
          </p:cNvPr>
          <p:cNvSpPr txBox="1"/>
          <p:nvPr/>
        </p:nvSpPr>
        <p:spPr>
          <a:xfrm>
            <a:off x="5978950" y="5264026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23587F"/>
                </a:solidFill>
                <a:latin typeface="+mj-lt"/>
              </a:rPr>
              <a:t>Скриншот репозитория </a:t>
            </a:r>
          </a:p>
        </p:txBody>
      </p:sp>
    </p:spTree>
    <p:extLst>
      <p:ext uri="{BB962C8B-B14F-4D97-AF65-F5344CB8AC3E}">
        <p14:creationId xmlns:p14="http://schemas.microsoft.com/office/powerpoint/2010/main" val="265056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9D190D-EB19-4C96-9E8C-1EB614AFD8A7}"/>
              </a:ext>
            </a:extLst>
          </p:cNvPr>
          <p:cNvSpPr txBox="1"/>
          <p:nvPr/>
        </p:nvSpPr>
        <p:spPr>
          <a:xfrm>
            <a:off x="2312317" y="320511"/>
            <a:ext cx="75673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23587F"/>
                </a:solidFill>
              </a:rPr>
              <a:t>Распределение обязанностей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FBD08-7035-48D7-A88B-D23FE9FEF23A}"/>
              </a:ext>
            </a:extLst>
          </p:cNvPr>
          <p:cNvSpPr txBox="1"/>
          <p:nvPr/>
        </p:nvSpPr>
        <p:spPr>
          <a:xfrm>
            <a:off x="1340178" y="2090172"/>
            <a:ext cx="95116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3587F"/>
                </a:solidFill>
              </a:rPr>
              <a:t>Проектирование БД, ERD, </a:t>
            </a:r>
            <a:r>
              <a:rPr lang="ru-RU" sz="2800" dirty="0" err="1">
                <a:solidFill>
                  <a:srgbClr val="23587F"/>
                </a:solidFill>
              </a:rPr>
              <a:t>Use</a:t>
            </a:r>
            <a:r>
              <a:rPr lang="ru-RU" sz="2800" dirty="0">
                <a:solidFill>
                  <a:srgbClr val="23587F"/>
                </a:solidFill>
              </a:rPr>
              <a:t>-Case, описание требований</a:t>
            </a:r>
          </a:p>
          <a:p>
            <a:endParaRPr lang="ru-RU" sz="2800" dirty="0">
              <a:solidFill>
                <a:srgbClr val="23587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3587F"/>
                </a:solidFill>
              </a:rPr>
              <a:t>Структура сайта, User </a:t>
            </a:r>
            <a:r>
              <a:rPr lang="ru-RU" sz="2800" dirty="0" err="1">
                <a:solidFill>
                  <a:srgbClr val="23587F"/>
                </a:solidFill>
              </a:rPr>
              <a:t>Flow</a:t>
            </a:r>
            <a:r>
              <a:rPr lang="ru-RU" sz="2800" dirty="0">
                <a:solidFill>
                  <a:srgbClr val="23587F"/>
                </a:solidFill>
              </a:rPr>
              <a:t>, каркасы страниц, </a:t>
            </a:r>
            <a:r>
              <a:rPr lang="ru-RU" sz="2800" dirty="0" err="1">
                <a:solidFill>
                  <a:srgbClr val="23587F"/>
                </a:solidFill>
              </a:rPr>
              <a:t>endpoints</a:t>
            </a:r>
            <a:endParaRPr lang="ru-RU" sz="2800" dirty="0">
              <a:solidFill>
                <a:srgbClr val="23587F"/>
              </a:solidFill>
            </a:endParaRPr>
          </a:p>
          <a:p>
            <a:endParaRPr lang="ru-RU" sz="2800" dirty="0">
              <a:solidFill>
                <a:srgbClr val="23587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3587F"/>
                </a:solidFill>
              </a:rPr>
              <a:t>Втроем: Подготовка презентации, проверка соответствия шаблонам С1–С4 </a:t>
            </a:r>
          </a:p>
        </p:txBody>
      </p:sp>
    </p:spTree>
    <p:extLst>
      <p:ext uri="{BB962C8B-B14F-4D97-AF65-F5344CB8AC3E}">
        <p14:creationId xmlns:p14="http://schemas.microsoft.com/office/powerpoint/2010/main" val="3811977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57445-2D3A-C566-CECC-2A1A2EEC8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6190" y="2563865"/>
            <a:ext cx="8562680" cy="626968"/>
          </a:xfrm>
        </p:spPr>
        <p:txBody>
          <a:bodyPr>
            <a:noAutofit/>
          </a:bodyPr>
          <a:lstStyle/>
          <a:p>
            <a:b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Тема: </a:t>
            </a:r>
            <a:r>
              <a:rPr lang="ru-R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КиноОтзыв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— сервис рецензий на фильмы  </a:t>
            </a:r>
            <a:endParaRPr lang="ru-UA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B50DE7-9E22-C555-1B52-948110381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1749"/>
            <a:ext cx="9144000" cy="11731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/>
              <a:t>Группа: ПИб-241  </a:t>
            </a:r>
          </a:p>
          <a:p>
            <a:pPr algn="l"/>
            <a:r>
              <a:rPr lang="ru-RU" dirty="0"/>
              <a:t>Состав: Синицына Д.В, </a:t>
            </a:r>
          </a:p>
          <a:p>
            <a:pPr algn="l"/>
            <a:r>
              <a:rPr lang="ru-RU" dirty="0"/>
              <a:t>Колесникова В.А, Стрелковская К.А</a:t>
            </a:r>
          </a:p>
          <a:p>
            <a:pPr algn="l"/>
            <a:r>
              <a:rPr lang="ru-RU" dirty="0"/>
              <a:t>Репозиторий: </a:t>
            </a:r>
            <a:r>
              <a:rPr lang="en-US" b="0" i="0" u="sng" dirty="0">
                <a:solidFill>
                  <a:srgbClr val="8774E1"/>
                </a:solidFill>
                <a:effectLst/>
                <a:latin typeface="Roboto" panose="02000000000000000000" pitchFamily="2" charset="0"/>
                <a:hlinkClick r:id="rId2"/>
              </a:rPr>
              <a:t>https://github.com/Meduzika/proectGit</a:t>
            </a:r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3D976-340D-4F15-9953-306627F58110}"/>
              </a:ext>
            </a:extLst>
          </p:cNvPr>
          <p:cNvSpPr txBox="1"/>
          <p:nvPr/>
        </p:nvSpPr>
        <p:spPr>
          <a:xfrm>
            <a:off x="4376394" y="6532775"/>
            <a:ext cx="130796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D9B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Февраль 2026</a:t>
            </a:r>
            <a:endParaRPr kumimoji="0" lang="ru-UA" sz="1400" b="1" i="0" u="none" strike="noStrike" kern="1200" cap="none" spc="0" normalizeH="0" baseline="0" noProof="0" dirty="0">
              <a:ln>
                <a:noFill/>
              </a:ln>
              <a:solidFill>
                <a:srgbClr val="FD9B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C6BE884-CAEB-4325-B724-5CAA01B29F02}"/>
              </a:ext>
            </a:extLst>
          </p:cNvPr>
          <p:cNvSpPr txBox="1">
            <a:spLocks/>
          </p:cNvSpPr>
          <p:nvPr/>
        </p:nvSpPr>
        <p:spPr>
          <a:xfrm>
            <a:off x="2614367" y="1284219"/>
            <a:ext cx="7406326" cy="11731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23587F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ru-RU" sz="5400" dirty="0">
                <a:latin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  <a:endParaRPr lang="ru-UA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6238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4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692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550</Words>
  <Application>Microsoft Office PowerPoint</Application>
  <PresentationFormat>Широкоэкранный</PresentationFormat>
  <Paragraphs>98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inpin heiti</vt:lpstr>
      <vt:lpstr>Roboto</vt:lpstr>
      <vt:lpstr>Тема Office</vt:lpstr>
      <vt:lpstr>«Модуль 1: Проектирование архитектуры системы»   Тема: КиноОтзыв — сервис рецензий на фильмы  </vt:lpstr>
      <vt:lpstr>Описание проекта</vt:lpstr>
      <vt:lpstr>Пользователи и основные возможности </vt:lpstr>
      <vt:lpstr>Диаграмма Use-Case</vt:lpstr>
      <vt:lpstr>Схема БД</vt:lpstr>
      <vt:lpstr>Список endpoint-ов</vt:lpstr>
      <vt:lpstr>Список веб-страниц</vt:lpstr>
      <vt:lpstr>Карта сайта</vt:lpstr>
      <vt:lpstr>Каркас веб-страницы</vt:lpstr>
      <vt:lpstr>Презентация PowerPoint</vt:lpstr>
      <vt:lpstr>Презентация PowerPoint</vt:lpstr>
      <vt:lpstr>Презентация PowerPoint</vt:lpstr>
      <vt:lpstr> Тема: КиноОтзыв — сервис рецензий на фильмы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Марина Маркасьян</dc:creator>
  <cp:lastModifiedBy>ксения стрелковская</cp:lastModifiedBy>
  <cp:revision>23</cp:revision>
  <dcterms:created xsi:type="dcterms:W3CDTF">2023-02-07T21:59:07Z</dcterms:created>
  <dcterms:modified xsi:type="dcterms:W3CDTF">2026-02-25T15:30:13Z</dcterms:modified>
</cp:coreProperties>
</file>